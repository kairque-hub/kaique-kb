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1" descr="loc/p1_im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11" y="365760"/>
            <a:ext cx="692626" cy="447040"/>
          </a:xfrm>
          <a:prstGeom prst="rect">
            <a:avLst/>
          </a:prstGeom>
        </p:spPr>
      </p:pic>
      <p:pic>
        <p:nvPicPr>
          <p:cNvPr id="3" name="Foto 2" descr="loc/p1_im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440" y="1524000"/>
            <a:ext cx="2651760" cy="4064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8945" y="409099"/>
            <a:ext cx="18478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760" spc="106" kern="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L’OCCITANE</a:t>
            </a:r>
            <a:endParaRPr lang="en-US" sz="1760" dirty="0"/>
          </a:p>
        </p:txBody>
      </p:sp>
      <p:sp>
        <p:nvSpPr>
          <p:cNvPr id="5" name="Text 1"/>
          <p:cNvSpPr txBox="1"/>
          <p:nvPr/>
        </p:nvSpPr>
        <p:spPr>
          <a:xfrm>
            <a:off x="744585" y="669182"/>
            <a:ext cx="125657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"/>
              </a:lnSpc>
              <a:buNone/>
            </a:pPr>
            <a:r>
              <a:rPr lang="en-US" sz="740" spc="237" kern="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EN PROVENCE</a:t>
            </a:r>
            <a:endParaRPr lang="en-US" sz="740" dirty="0"/>
          </a:p>
        </p:txBody>
      </p:sp>
      <p:sp>
        <p:nvSpPr>
          <p:cNvPr id="6" name="Text 2"/>
          <p:cNvSpPr txBox="1"/>
          <p:nvPr/>
        </p:nvSpPr>
        <p:spPr>
          <a:xfrm>
            <a:off x="2390140" y="487680"/>
            <a:ext cx="18943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BCB0A2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×</a:t>
            </a:r>
            <a:endParaRPr lang="en-US" sz="1280" dirty="0"/>
          </a:p>
        </p:txBody>
      </p:sp>
      <p:sp>
        <p:nvSpPr>
          <p:cNvPr id="7" name="Text 3"/>
          <p:cNvSpPr txBox="1"/>
          <p:nvPr/>
        </p:nvSpPr>
        <p:spPr>
          <a:xfrm>
            <a:off x="9794399" y="467360"/>
            <a:ext cx="186624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800" spc="96" kern="0" dirty="0">
                <a:solidFill>
                  <a:srgbClr val="F6EED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PROPOSTA EXCLUSIVA</a:t>
            </a:r>
            <a:endParaRPr lang="en-US" sz="800" dirty="0"/>
          </a:p>
          <a:p>
            <a:pPr algn="r" indent="0" marL="0">
              <a:lnSpc>
                <a:spcPts val="1280"/>
              </a:lnSpc>
              <a:buNone/>
            </a:pPr>
            <a:r>
              <a:rPr lang="en-US" sz="800" spc="96" kern="0" dirty="0">
                <a:solidFill>
                  <a:srgbClr val="F6EED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PATROCÍNIO MASTER DE 5 ANOS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579120" y="1727200"/>
            <a:ext cx="2274808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spc="123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INSTITUTO VANESSA DA MATA</a:t>
            </a:r>
            <a:endParaRPr lang="en-US" sz="880" dirty="0"/>
          </a:p>
        </p:txBody>
      </p:sp>
      <p:sp>
        <p:nvSpPr>
          <p:cNvPr id="9" name="Text 5"/>
          <p:cNvSpPr txBox="1"/>
          <p:nvPr/>
        </p:nvSpPr>
        <p:spPr>
          <a:xfrm>
            <a:off x="579120" y="2008632"/>
            <a:ext cx="6620256" cy="3803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90"/>
              </a:lnSpc>
              <a:buNone/>
            </a:pPr>
            <a:r>
              <a:rPr lang="en-US" sz="8320" spc="42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MUSEU DA MULHER</a:t>
            </a:r>
            <a:endParaRPr lang="en-US" sz="8320" dirty="0"/>
          </a:p>
          <a:p>
            <a:pPr algn="l" indent="0" marL="0">
              <a:lnSpc>
                <a:spcPts val="7490"/>
              </a:lnSpc>
              <a:buNone/>
            </a:pPr>
            <a:r>
              <a:rPr lang="en-US" sz="8320" spc="42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 MÚSICA </a:t>
            </a:r>
            <a:pPr algn="l" indent="0" marL="0">
              <a:lnSpc>
                <a:spcPts val="7490"/>
              </a:lnSpc>
              <a:buNone/>
            </a:pPr>
            <a:r>
              <a:rPr lang="en-US" sz="8320" spc="42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BRASILEIRA</a:t>
            </a:r>
            <a:endParaRPr lang="en-US" sz="8320" dirty="0"/>
          </a:p>
        </p:txBody>
      </p:sp>
      <p:sp>
        <p:nvSpPr>
          <p:cNvPr id="10" name="Text 6"/>
          <p:cNvSpPr txBox="1"/>
          <p:nvPr/>
        </p:nvSpPr>
        <p:spPr>
          <a:xfrm>
            <a:off x="579120" y="6070854"/>
            <a:ext cx="5382768" cy="440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20" spc="-11" kern="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Uma proposta para a L’Occitane en Provence celebrar seus 50 anos com um legado que permanece por décadas.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9120" y="582981"/>
            <a:ext cx="8734298" cy="134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5760" spc="29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FORÇA DE UM ÍCONE</a:t>
            </a:r>
            <a:endParaRPr lang="en-US" sz="5760" dirty="0"/>
          </a:p>
          <a:p>
            <a:pPr algn="l" indent="0" marL="0">
              <a:lnSpc>
                <a:spcPts val="5300"/>
              </a:lnSpc>
              <a:buNone/>
            </a:pPr>
            <a:r>
              <a:rPr lang="en-US" sz="5760" spc="29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CONTEMPORÂNEO EM NÚMEROS</a:t>
            </a:r>
            <a:endParaRPr lang="en-US" sz="5760" dirty="0"/>
          </a:p>
        </p:txBody>
      </p:sp>
      <p:sp>
        <p:nvSpPr>
          <p:cNvPr id="3" name="Text 1"/>
          <p:cNvSpPr txBox="1"/>
          <p:nvPr/>
        </p:nvSpPr>
        <p:spPr>
          <a:xfrm>
            <a:off x="1066800" y="2635504"/>
            <a:ext cx="2262584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00"/>
              </a:lnSpc>
              <a:buNone/>
            </a:pPr>
            <a:r>
              <a:rPr lang="en-US" sz="7680" spc="38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+5 MI</a:t>
            </a:r>
            <a:endParaRPr lang="en-US" sz="7680" dirty="0"/>
          </a:p>
        </p:txBody>
      </p:sp>
      <p:sp>
        <p:nvSpPr>
          <p:cNvPr id="4" name="Text 2"/>
          <p:cNvSpPr txBox="1"/>
          <p:nvPr/>
        </p:nvSpPr>
        <p:spPr>
          <a:xfrm>
            <a:off x="1066800" y="3574034"/>
            <a:ext cx="1803146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ouvintes mensais no Spotify</a:t>
            </a:r>
            <a:endParaRPr lang="en-US" sz="920" dirty="0"/>
          </a:p>
        </p:txBody>
      </p:sp>
      <p:sp>
        <p:nvSpPr>
          <p:cNvPr id="5" name="Text 3"/>
          <p:cNvSpPr txBox="1"/>
          <p:nvPr/>
        </p:nvSpPr>
        <p:spPr>
          <a:xfrm>
            <a:off x="3336131" y="2792571"/>
            <a:ext cx="131402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840" spc="-192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+2,5 MI</a:t>
            </a:r>
            <a:endParaRPr lang="en-US" sz="3840" dirty="0"/>
          </a:p>
        </p:txBody>
      </p:sp>
      <p:sp>
        <p:nvSpPr>
          <p:cNvPr id="6" name="Text 4"/>
          <p:cNvSpPr txBox="1"/>
          <p:nvPr/>
        </p:nvSpPr>
        <p:spPr>
          <a:xfrm>
            <a:off x="3336131" y="3322669"/>
            <a:ext cx="1237183" cy="27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seguidores nas</a:t>
            </a:r>
            <a:endParaRPr lang="en-US" sz="84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redes sociais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4844098" y="2792571"/>
            <a:ext cx="136134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840" spc="-192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+150 MI</a:t>
            </a:r>
            <a:endParaRPr lang="en-US" sz="3840" dirty="0"/>
          </a:p>
        </p:txBody>
      </p:sp>
      <p:sp>
        <p:nvSpPr>
          <p:cNvPr id="8" name="Text 6"/>
          <p:cNvSpPr txBox="1"/>
          <p:nvPr/>
        </p:nvSpPr>
        <p:spPr>
          <a:xfrm>
            <a:off x="4844098" y="3322669"/>
            <a:ext cx="1237183" cy="27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plays</a:t>
            </a:r>
            <a:endParaRPr lang="en-US" sz="84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globais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6352064" y="2792571"/>
            <a:ext cx="1567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840" spc="-192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+120 MIL</a:t>
            </a:r>
            <a:endParaRPr lang="en-US" sz="3840" dirty="0"/>
          </a:p>
        </p:txBody>
      </p:sp>
      <p:sp>
        <p:nvSpPr>
          <p:cNvPr id="10" name="Text 8"/>
          <p:cNvSpPr txBox="1"/>
          <p:nvPr/>
        </p:nvSpPr>
        <p:spPr>
          <a:xfrm>
            <a:off x="6352064" y="3322669"/>
            <a:ext cx="1371244" cy="27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visitantes estimados</a:t>
            </a:r>
            <a:endParaRPr lang="en-US" sz="84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por ano</a:t>
            </a:r>
            <a:endParaRPr lang="en-US" sz="840" dirty="0"/>
          </a:p>
        </p:txBody>
      </p:sp>
      <p:sp>
        <p:nvSpPr>
          <p:cNvPr id="11" name="Text 9"/>
          <p:cNvSpPr txBox="1"/>
          <p:nvPr/>
        </p:nvSpPr>
        <p:spPr>
          <a:xfrm>
            <a:off x="7989729" y="2792571"/>
            <a:ext cx="7749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840" spc="-192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85%</a:t>
            </a:r>
            <a:endParaRPr lang="en-US" sz="3840" dirty="0"/>
          </a:p>
        </p:txBody>
      </p:sp>
      <p:sp>
        <p:nvSpPr>
          <p:cNvPr id="12" name="Text 10"/>
          <p:cNvSpPr txBox="1"/>
          <p:nvPr/>
        </p:nvSpPr>
        <p:spPr>
          <a:xfrm>
            <a:off x="7989729" y="3322669"/>
            <a:ext cx="1237183" cy="27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perfil feminino e</a:t>
            </a:r>
            <a:endParaRPr lang="en-US" sz="84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formadores de opinião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9497695" y="2792571"/>
            <a:ext cx="17577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840" spc="-192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20+ ANOS</a:t>
            </a:r>
            <a:endParaRPr lang="en-US" sz="3840" dirty="0"/>
          </a:p>
        </p:txBody>
      </p:sp>
      <p:sp>
        <p:nvSpPr>
          <p:cNvPr id="14" name="Text 12"/>
          <p:cNvSpPr txBox="1"/>
          <p:nvPr/>
        </p:nvSpPr>
        <p:spPr>
          <a:xfrm>
            <a:off x="9497695" y="3322669"/>
            <a:ext cx="1546555" cy="27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de carreira com</a:t>
            </a:r>
            <a:endParaRPr lang="en-US" sz="84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8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reputação ilibada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579120" y="4461764"/>
            <a:ext cx="5795264" cy="440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20" b="1" spc="-11" kern="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Comunidade Vanessa da Mata:</a:t>
            </a:r>
            <a:pPr algn="l" indent="0" marL="0">
              <a:lnSpc>
                <a:spcPts val="1740"/>
              </a:lnSpc>
              <a:buNone/>
            </a:pPr>
            <a:r>
              <a:rPr lang="en-US" sz="1120" spc="-11" kern="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 público fiel, maduro e de alto poder de consumo, conectado à cultura, moda, brasilidade e sustentabilidade.</a:t>
            </a:r>
            <a:endParaRPr lang="en-US" sz="1120" dirty="0"/>
          </a:p>
        </p:txBody>
      </p:sp>
      <p:sp>
        <p:nvSpPr>
          <p:cNvPr id="16" name="Text 14"/>
          <p:cNvSpPr txBox="1"/>
          <p:nvPr/>
        </p:nvSpPr>
        <p:spPr>
          <a:xfrm>
            <a:off x="7142480" y="4561840"/>
            <a:ext cx="126303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24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15 MI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401526" y="4696460"/>
            <a:ext cx="2235692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COMUNIDADE DO INSTITUTO · ANO 1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8401526" y="4866640"/>
            <a:ext cx="168667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impactos digitais estimados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579120" y="6497320"/>
            <a:ext cx="965994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Vanessa da Mata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8773001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21" name="Text 19"/>
          <p:cNvSpPr txBox="1"/>
          <p:nvPr/>
        </p:nvSpPr>
        <p:spPr>
          <a:xfrm>
            <a:off x="11322971" y="6492240"/>
            <a:ext cx="235014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02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9120" y="711200"/>
            <a:ext cx="2577433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0"/>
              </a:lnSpc>
              <a:buNone/>
            </a:pPr>
            <a:r>
              <a:rPr lang="en-US" sz="20800" spc="104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50</a:t>
            </a:r>
            <a:endParaRPr lang="en-US" sz="20800" dirty="0"/>
          </a:p>
        </p:txBody>
      </p:sp>
      <p:sp>
        <p:nvSpPr>
          <p:cNvPr id="3" name="Text 1"/>
          <p:cNvSpPr txBox="1"/>
          <p:nvPr/>
        </p:nvSpPr>
        <p:spPr>
          <a:xfrm>
            <a:off x="579120" y="2987040"/>
            <a:ext cx="270002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spc="123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ANOS DE L’OCCITANE EN PROVENCE</a:t>
            </a:r>
            <a:endParaRPr lang="en-US" sz="880" dirty="0"/>
          </a:p>
        </p:txBody>
      </p:sp>
      <p:sp>
        <p:nvSpPr>
          <p:cNvPr id="4" name="Text 2"/>
          <p:cNvSpPr txBox="1"/>
          <p:nvPr/>
        </p:nvSpPr>
        <p:spPr>
          <a:xfrm>
            <a:off x="4775200" y="627888"/>
            <a:ext cx="6960565" cy="100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MEIO SÉCULO DE HISTÓRIA MERECE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LEGADO À ALTURA</a:t>
            </a:r>
            <a:endParaRPr lang="en-US" sz="4160" dirty="0"/>
          </a:p>
        </p:txBody>
      </p:sp>
      <p:sp>
        <p:nvSpPr>
          <p:cNvPr id="5" name="Text 3"/>
          <p:cNvSpPr txBox="1"/>
          <p:nvPr/>
        </p:nvSpPr>
        <p:spPr>
          <a:xfrm>
            <a:off x="4988560" y="2712720"/>
            <a:ext cx="1863392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UM MARCO QUE VIRA LEGADO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4988560" y="2880360"/>
            <a:ext cx="6527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A marca está completando 50 anos. Patrocinar a casa das matrizes da música brasileira transforma a celebração em algo que permanece por décadas.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4988560" y="3718560"/>
            <a:ext cx="206316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DUAS TRAJETÓRIAS ATEMPORAIS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4988560" y="3886200"/>
            <a:ext cx="6527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Desde 1976, a L’Occitane leva a natureza e o saber-fazer de Provence ao mundo. Vanessa constrói há mais de 20 anos uma carreira de reputação ilibada.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4988560" y="4724400"/>
            <a:ext cx="154138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UM PÚBLICO EM COMUM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4988560" y="4892040"/>
            <a:ext cx="6527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85% do público de Vanessa é feminino e formador de opinião, com alto poder de consumo e conexão com cultura, brasilidade e sustentabilidade.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579120" y="6497320"/>
            <a:ext cx="507254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50 anos</a:t>
            </a:r>
            <a:endParaRPr lang="en-US" sz="760" dirty="0"/>
          </a:p>
        </p:txBody>
      </p:sp>
      <p:sp>
        <p:nvSpPr>
          <p:cNvPr id="12" name="Text 10"/>
          <p:cNvSpPr txBox="1"/>
          <p:nvPr/>
        </p:nvSpPr>
        <p:spPr>
          <a:xfrm>
            <a:off x="8770144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13" name="Text 11"/>
          <p:cNvSpPr txBox="1"/>
          <p:nvPr/>
        </p:nvSpPr>
        <p:spPr>
          <a:xfrm>
            <a:off x="11319970" y="6492240"/>
            <a:ext cx="238157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03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9399" y="544068"/>
            <a:ext cx="1269317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 ENTRADA DA MARCA</a:t>
            </a:r>
            <a:endParaRPr lang="en-US" sz="720" dirty="0"/>
          </a:p>
        </p:txBody>
      </p:sp>
      <p:sp>
        <p:nvSpPr>
          <p:cNvPr id="3" name="Text 1"/>
          <p:cNvSpPr txBox="1"/>
          <p:nvPr/>
        </p:nvSpPr>
        <p:spPr>
          <a:xfrm>
            <a:off x="579120" y="627888"/>
            <a:ext cx="8294830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ENTRADA DA L’OCCITANE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PROJETO</a:t>
            </a:r>
            <a:endParaRPr lang="en-US" sz="416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1516888"/>
            <a:ext cx="278820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10"/>
              </a:lnSpc>
              <a:buNone/>
            </a:pPr>
            <a:r>
              <a:rPr lang="en-US" sz="7680" spc="38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 ANOS</a:t>
            </a:r>
            <a:endParaRPr lang="en-US" sz="7680" dirty="0"/>
          </a:p>
        </p:txBody>
      </p:sp>
      <p:sp>
        <p:nvSpPr>
          <p:cNvPr id="5" name="Text 3"/>
          <p:cNvSpPr txBox="1"/>
          <p:nvPr/>
        </p:nvSpPr>
        <p:spPr>
          <a:xfrm>
            <a:off x="3184049" y="2164080"/>
            <a:ext cx="1818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spc="134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 PARCERIA MASTER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772160" y="2936240"/>
            <a:ext cx="23187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720" dirty="0"/>
          </a:p>
        </p:txBody>
      </p:sp>
      <p:sp>
        <p:nvSpPr>
          <p:cNvPr id="7" name="Text 5"/>
          <p:cNvSpPr txBox="1"/>
          <p:nvPr/>
        </p:nvSpPr>
        <p:spPr>
          <a:xfrm>
            <a:off x="772160" y="3108960"/>
            <a:ext cx="2778776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2080" spc="10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PATROCINADORA MASTER</a:t>
            </a:r>
            <a:endParaRPr lang="en-US" sz="2080" dirty="0"/>
          </a:p>
        </p:txBody>
      </p:sp>
      <p:sp>
        <p:nvSpPr>
          <p:cNvPr id="8" name="Text 6"/>
          <p:cNvSpPr txBox="1"/>
          <p:nvPr/>
        </p:nvSpPr>
        <p:spPr>
          <a:xfrm>
            <a:off x="772160" y="4467860"/>
            <a:ext cx="327903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Cota Máster por 5 anos, com presença em todos os pontos de contato, nos materiais digitais e nos eventos corporativos.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4490720" y="2936240"/>
            <a:ext cx="251952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4490720" y="3108960"/>
            <a:ext cx="179808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2080" spc="10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NAMING RIGHTS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4490720" y="4467860"/>
            <a:ext cx="327903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Nome da marca no complexo e nos espaços, do casarão ao Jardim e Café, presente em toda a comunicação do Instituto.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8209280" y="2936240"/>
            <a:ext cx="2549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9A6E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8209280" y="3108960"/>
            <a:ext cx="2194481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2080" spc="10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POP-UP L’OCCITANE</a:t>
            </a:r>
            <a:endParaRPr lang="en-US" sz="2080" dirty="0"/>
          </a:p>
        </p:txBody>
      </p:sp>
      <p:sp>
        <p:nvSpPr>
          <p:cNvPr id="14" name="Text 12"/>
          <p:cNvSpPr txBox="1"/>
          <p:nvPr/>
        </p:nvSpPr>
        <p:spPr>
          <a:xfrm>
            <a:off x="8209280" y="4300220"/>
            <a:ext cx="3279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Espaço próprio da marca dentro do complexo para experimentação, encontros e lançamentos ao longo da parceria.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701040" y="5268468"/>
            <a:ext cx="1484455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2B1C1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GANCHO DE LANÇAMENTO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2202021" y="5228527"/>
            <a:ext cx="587697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Os 50 anos da L’Occitane abrem a parceria, com anúncio, single e pop-up no mesmo momento.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579120" y="6497320"/>
            <a:ext cx="59404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 entrada</a:t>
            </a:r>
            <a:endParaRPr lang="en-US" sz="760" dirty="0"/>
          </a:p>
        </p:txBody>
      </p:sp>
      <p:sp>
        <p:nvSpPr>
          <p:cNvPr id="18" name="Text 16"/>
          <p:cNvSpPr txBox="1"/>
          <p:nvPr/>
        </p:nvSpPr>
        <p:spPr>
          <a:xfrm>
            <a:off x="8769191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19" name="Text 17"/>
          <p:cNvSpPr txBox="1"/>
          <p:nvPr/>
        </p:nvSpPr>
        <p:spPr>
          <a:xfrm>
            <a:off x="11318970" y="6492240"/>
            <a:ext cx="239204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04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1" descr="loc/p5_im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914400"/>
            <a:ext cx="2875280" cy="4470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01040" y="706628"/>
            <a:ext cx="773033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EXPERIÊNCIA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79120" y="1002697"/>
            <a:ext cx="7032752" cy="100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COMO A EXPERIÊNCIA ACONTECE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 PRÁTICA</a:t>
            </a:r>
            <a:endParaRPr lang="en-US" sz="4160" dirty="0"/>
          </a:p>
        </p:txBody>
      </p:sp>
      <p:sp>
        <p:nvSpPr>
          <p:cNvPr id="5" name="Text 2"/>
          <p:cNvSpPr txBox="1"/>
          <p:nvPr/>
        </p:nvSpPr>
        <p:spPr>
          <a:xfrm>
            <a:off x="579120" y="2189321"/>
            <a:ext cx="6620256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O visitante caminha por um casarão histórico cercado de jardins. O som ambiente traz rascunhos inéditos de “Boa Sorte”. Nas paredes, os vestidos das turnês mundiais ganham luz de galeria. Uma projeção 360° conecta a escrita de Vanessa às vozes de outras personas brasileiras que fazem ou fizeram parte da sua trajetória, ligando sua história a matrizes da cultura nacional. Na saída, café no Jardim L’Occitane e vinil exclusivo na loja.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2160" y="4155440"/>
            <a:ext cx="23187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772160" y="5095240"/>
            <a:ext cx="186775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760" spc="9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SALA IMERSIVA 360°</a:t>
            </a:r>
            <a:endParaRPr lang="en-US" sz="1760" dirty="0"/>
          </a:p>
        </p:txBody>
      </p:sp>
      <p:sp>
        <p:nvSpPr>
          <p:cNvPr id="8" name="Text 5"/>
          <p:cNvSpPr txBox="1"/>
          <p:nvPr/>
        </p:nvSpPr>
        <p:spPr>
          <a:xfrm>
            <a:off x="772160" y="5382260"/>
            <a:ext cx="188686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Iluminação e projeções das artistas.</a:t>
            </a:r>
            <a:endParaRPr lang="en-US" sz="880" dirty="0"/>
          </a:p>
        </p:txBody>
      </p:sp>
      <p:sp>
        <p:nvSpPr>
          <p:cNvPr id="9" name="Text 6"/>
          <p:cNvSpPr txBox="1"/>
          <p:nvPr/>
        </p:nvSpPr>
        <p:spPr>
          <a:xfrm>
            <a:off x="3115786" y="4155440"/>
            <a:ext cx="251952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3115786" y="5039360"/>
            <a:ext cx="1886864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760" spc="9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GALERIA DE FIGURINOS E ACERVO</a:t>
            </a:r>
            <a:endParaRPr lang="en-US" sz="1760" dirty="0"/>
          </a:p>
        </p:txBody>
      </p:sp>
      <p:sp>
        <p:nvSpPr>
          <p:cNvPr id="11" name="Text 8"/>
          <p:cNvSpPr txBox="1"/>
          <p:nvPr/>
        </p:nvSpPr>
        <p:spPr>
          <a:xfrm>
            <a:off x="3115786" y="5549900"/>
            <a:ext cx="172456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Expositores com luz cênica.</a:t>
            </a:r>
            <a:endParaRPr lang="en-US" sz="880" dirty="0"/>
          </a:p>
        </p:txBody>
      </p:sp>
      <p:sp>
        <p:nvSpPr>
          <p:cNvPr id="12" name="Text 9"/>
          <p:cNvSpPr txBox="1"/>
          <p:nvPr/>
        </p:nvSpPr>
        <p:spPr>
          <a:xfrm>
            <a:off x="5459413" y="4155440"/>
            <a:ext cx="2549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720" dirty="0"/>
          </a:p>
        </p:txBody>
      </p:sp>
      <p:sp>
        <p:nvSpPr>
          <p:cNvPr id="13" name="Text 10"/>
          <p:cNvSpPr txBox="1"/>
          <p:nvPr/>
        </p:nvSpPr>
        <p:spPr>
          <a:xfrm>
            <a:off x="5459413" y="5039360"/>
            <a:ext cx="1886864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760" spc="9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CAFÉ E JARDIM DE CONVIVÊNCIA</a:t>
            </a:r>
            <a:endParaRPr lang="en-US" sz="1760" dirty="0"/>
          </a:p>
        </p:txBody>
      </p:sp>
      <p:sp>
        <p:nvSpPr>
          <p:cNvPr id="14" name="Text 11"/>
          <p:cNvSpPr txBox="1"/>
          <p:nvPr/>
        </p:nvSpPr>
        <p:spPr>
          <a:xfrm>
            <a:off x="5459413" y="5549900"/>
            <a:ext cx="16402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Espaço aberto com marca.</a:t>
            </a:r>
            <a:endParaRPr lang="en-US" sz="880" dirty="0"/>
          </a:p>
        </p:txBody>
      </p:sp>
      <p:sp>
        <p:nvSpPr>
          <p:cNvPr id="15" name="Text 12"/>
          <p:cNvSpPr txBox="1"/>
          <p:nvPr/>
        </p:nvSpPr>
        <p:spPr>
          <a:xfrm>
            <a:off x="8534400" y="5466080"/>
            <a:ext cx="1320657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BDB2A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Foto real: figurinos das turnês.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579120" y="6497320"/>
            <a:ext cx="689737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Experiência</a:t>
            </a:r>
            <a:endParaRPr lang="en-US" sz="760" dirty="0"/>
          </a:p>
        </p:txBody>
      </p:sp>
      <p:sp>
        <p:nvSpPr>
          <p:cNvPr id="17" name="Text 14"/>
          <p:cNvSpPr txBox="1"/>
          <p:nvPr/>
        </p:nvSpPr>
        <p:spPr>
          <a:xfrm>
            <a:off x="8772684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18" name="Text 15"/>
          <p:cNvSpPr txBox="1"/>
          <p:nvPr/>
        </p:nvSpPr>
        <p:spPr>
          <a:xfrm>
            <a:off x="11322637" y="6492240"/>
            <a:ext cx="23536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05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4470" y="544068"/>
            <a:ext cx="1340739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JORNADA DO VISITANTE</a:t>
            </a:r>
            <a:endParaRPr lang="en-US" sz="720" dirty="0"/>
          </a:p>
        </p:txBody>
      </p:sp>
      <p:sp>
        <p:nvSpPr>
          <p:cNvPr id="3" name="Text 1"/>
          <p:cNvSpPr txBox="1"/>
          <p:nvPr/>
        </p:nvSpPr>
        <p:spPr>
          <a:xfrm>
            <a:off x="579120" y="627888"/>
            <a:ext cx="8796353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L’OCCITANE EM CADA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PONTO DE CONTATO</a:t>
            </a:r>
            <a:endParaRPr lang="en-US" sz="416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1311529"/>
            <a:ext cx="3926237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BFB4A6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O casarão histórico e seus jardins: sede do Instituto L’Occitane.</a:t>
            </a:r>
            <a:endParaRPr lang="en-US" sz="920" dirty="0"/>
          </a:p>
        </p:txBody>
      </p:sp>
      <p:sp>
        <p:nvSpPr>
          <p:cNvPr id="5" name="Text 3"/>
          <p:cNvSpPr txBox="1"/>
          <p:nvPr/>
        </p:nvSpPr>
        <p:spPr>
          <a:xfrm>
            <a:off x="751840" y="2184400"/>
            <a:ext cx="656034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ENTRADA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751840" y="2352040"/>
            <a:ext cx="183530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spc="8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LOUNGE DE BOAS-VINDAS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751840" y="2862580"/>
            <a:ext cx="183530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Recepção sensorial da marca e QR Code.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2976880" y="4521200"/>
            <a:ext cx="50149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ROTA 1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2976880" y="4688840"/>
            <a:ext cx="183530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spc="8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POETISA: ORIGENS E MANUSCRITOS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2976880" y="5199380"/>
            <a:ext cx="183530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Ilha Sonora com ambiência aromática da marca.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5201920" y="2184400"/>
            <a:ext cx="52157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ROTA 2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5201920" y="2352040"/>
            <a:ext cx="183530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spc="8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GALERIA DAS MATRIARCAS</a:t>
            </a:r>
            <a:endParaRPr lang="en-US" sz="1680" dirty="0"/>
          </a:p>
        </p:txBody>
      </p:sp>
      <p:sp>
        <p:nvSpPr>
          <p:cNvPr id="13" name="Text 11"/>
          <p:cNvSpPr txBox="1"/>
          <p:nvPr/>
        </p:nvSpPr>
        <p:spPr>
          <a:xfrm>
            <a:off x="5201920" y="2862580"/>
            <a:ext cx="183530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Projeção mapeada e branded content L’Occitane.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7426960" y="4521200"/>
            <a:ext cx="524542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9A6E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ROTA 3</a:t>
            </a:r>
            <a:endParaRPr lang="en-US" sz="720" dirty="0"/>
          </a:p>
        </p:txBody>
      </p:sp>
      <p:sp>
        <p:nvSpPr>
          <p:cNvPr id="15" name="Text 13"/>
          <p:cNvSpPr txBox="1"/>
          <p:nvPr/>
        </p:nvSpPr>
        <p:spPr>
          <a:xfrm>
            <a:off x="7426960" y="4688840"/>
            <a:ext cx="177625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spc="8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ESTÉTICA DO SOM</a:t>
            </a:r>
            <a:endParaRPr lang="en-US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7426960" y="4986020"/>
            <a:ext cx="183530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Ateliê do Olhar e da Pele by L’Occitane.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9652000" y="2184400"/>
            <a:ext cx="459756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SAÍDA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9652000" y="2352040"/>
            <a:ext cx="18909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680" spc="8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BOSQUE, CAFÉ E LOJA</a:t>
            </a:r>
            <a:endParaRPr lang="en-US" sz="1680" dirty="0"/>
          </a:p>
        </p:txBody>
      </p:sp>
      <p:sp>
        <p:nvSpPr>
          <p:cNvPr id="19" name="Text 17"/>
          <p:cNvSpPr txBox="1"/>
          <p:nvPr/>
        </p:nvSpPr>
        <p:spPr>
          <a:xfrm>
            <a:off x="9652000" y="2649220"/>
            <a:ext cx="183530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Jardim e Café L’Occitane, com embalagens sustentáveis.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579120" y="6497320"/>
            <a:ext cx="51354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Jornada</a:t>
            </a:r>
            <a:endParaRPr lang="en-US" sz="760" dirty="0"/>
          </a:p>
        </p:txBody>
      </p:sp>
      <p:sp>
        <p:nvSpPr>
          <p:cNvPr id="21" name="Text 19"/>
          <p:cNvSpPr txBox="1"/>
          <p:nvPr/>
        </p:nvSpPr>
        <p:spPr>
          <a:xfrm>
            <a:off x="8771414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22" name="Text 20"/>
          <p:cNvSpPr txBox="1"/>
          <p:nvPr/>
        </p:nvSpPr>
        <p:spPr>
          <a:xfrm>
            <a:off x="11321304" y="6492240"/>
            <a:ext cx="23676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06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1" descr="loc/p7_im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914400"/>
            <a:ext cx="5080000" cy="4409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1200" y="5405120"/>
            <a:ext cx="356843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BAB0A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Referência visual da pop-up. Formato e produtos são proposta a validar com a marca.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6827520" y="706628"/>
            <a:ext cx="49957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POP-UP</a:t>
            </a:r>
            <a:endParaRPr lang="en-US" sz="720" dirty="0"/>
          </a:p>
        </p:txBody>
      </p:sp>
      <p:sp>
        <p:nvSpPr>
          <p:cNvPr id="5" name="Text 2"/>
          <p:cNvSpPr txBox="1"/>
          <p:nvPr/>
        </p:nvSpPr>
        <p:spPr>
          <a:xfrm>
            <a:off x="6705600" y="1002697"/>
            <a:ext cx="5001209" cy="100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POP-UP L’OCCITANE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DENTRO DO MUSEU</a:t>
            </a:r>
            <a:endParaRPr lang="en-US" sz="4160" dirty="0"/>
          </a:p>
        </p:txBody>
      </p:sp>
      <p:sp>
        <p:nvSpPr>
          <p:cNvPr id="6" name="Text 3"/>
          <p:cNvSpPr txBox="1"/>
          <p:nvPr/>
        </p:nvSpPr>
        <p:spPr>
          <a:xfrm>
            <a:off x="6705600" y="2148681"/>
            <a:ext cx="5001209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Um espaço assinado pela marca, integrado à jornada do visitante e lançado junto ao single, no marco dos 50 anos.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98640" y="2920206"/>
            <a:ext cx="87536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EXPERIÊNCIA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6898640" y="3090386"/>
            <a:ext cx="412356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Ateliê sensorial com aromas e texturas inspirados na obra de Vanessa.</a:t>
            </a:r>
            <a:endParaRPr lang="en-US" sz="880" dirty="0"/>
          </a:p>
        </p:txBody>
      </p:sp>
      <p:sp>
        <p:nvSpPr>
          <p:cNvPr id="9" name="Text 6"/>
          <p:cNvSpPr txBox="1"/>
          <p:nvPr/>
        </p:nvSpPr>
        <p:spPr>
          <a:xfrm>
            <a:off x="6898640" y="3666966"/>
            <a:ext cx="669655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PRODUTO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6898640" y="3837146"/>
            <a:ext cx="425697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Edição especial de 50 anos, com narrativa ligada à trajetória de Vanessa.</a:t>
            </a:r>
            <a:endParaRPr lang="en-US" sz="880" dirty="0"/>
          </a:p>
        </p:txBody>
      </p:sp>
      <p:sp>
        <p:nvSpPr>
          <p:cNvPr id="11" name="Text 8"/>
          <p:cNvSpPr txBox="1"/>
          <p:nvPr/>
        </p:nvSpPr>
        <p:spPr>
          <a:xfrm>
            <a:off x="6898640" y="4413726"/>
            <a:ext cx="763429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CONTEÚDO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6898640" y="4583906"/>
            <a:ext cx="503894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Bastidores, ativações com imprensa e conteúdo para as redes da marca e do Instituto.</a:t>
            </a:r>
            <a:endParaRPr lang="en-US" sz="880" dirty="0"/>
          </a:p>
        </p:txBody>
      </p:sp>
      <p:sp>
        <p:nvSpPr>
          <p:cNvPr id="13" name="Text 10"/>
          <p:cNvSpPr txBox="1"/>
          <p:nvPr/>
        </p:nvSpPr>
        <p:spPr>
          <a:xfrm>
            <a:off x="579120" y="6497320"/>
            <a:ext cx="474424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Pop-up</a:t>
            </a:r>
            <a:endParaRPr lang="en-US" sz="760" dirty="0"/>
          </a:p>
        </p:txBody>
      </p:sp>
      <p:sp>
        <p:nvSpPr>
          <p:cNvPr id="14" name="Text 11"/>
          <p:cNvSpPr txBox="1"/>
          <p:nvPr/>
        </p:nvSpPr>
        <p:spPr>
          <a:xfrm>
            <a:off x="8779193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15" name="Text 12"/>
          <p:cNvSpPr txBox="1"/>
          <p:nvPr/>
        </p:nvSpPr>
        <p:spPr>
          <a:xfrm>
            <a:off x="11329472" y="6492240"/>
            <a:ext cx="22820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07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76121" y="544068"/>
            <a:ext cx="777923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TERRITÓRIOS</a:t>
            </a:r>
            <a:endParaRPr lang="en-US" sz="720" dirty="0"/>
          </a:p>
        </p:txBody>
      </p:sp>
      <p:sp>
        <p:nvSpPr>
          <p:cNvPr id="3" name="Text 1"/>
          <p:cNvSpPr txBox="1"/>
          <p:nvPr/>
        </p:nvSpPr>
        <p:spPr>
          <a:xfrm>
            <a:off x="579120" y="627888"/>
            <a:ext cx="7953788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TERRITÓRIOS DE ATIVAÇÃO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 MARCA</a:t>
            </a:r>
            <a:endParaRPr lang="en-US" sz="4160" dirty="0"/>
          </a:p>
        </p:txBody>
      </p:sp>
      <p:sp>
        <p:nvSpPr>
          <p:cNvPr id="4" name="Text 2"/>
          <p:cNvSpPr txBox="1"/>
          <p:nvPr/>
        </p:nvSpPr>
        <p:spPr>
          <a:xfrm>
            <a:off x="833120" y="2082800"/>
            <a:ext cx="1369552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BELEZA E BEM-ESTAR</a:t>
            </a:r>
            <a:endParaRPr lang="en-US" sz="720" dirty="0"/>
          </a:p>
        </p:txBody>
      </p:sp>
      <p:sp>
        <p:nvSpPr>
          <p:cNvPr id="5" name="Text 3"/>
          <p:cNvSpPr txBox="1"/>
          <p:nvPr/>
        </p:nvSpPr>
        <p:spPr>
          <a:xfrm>
            <a:off x="833120" y="2250440"/>
            <a:ext cx="315529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2720" spc="14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ATELIÊ DO OLHAR E DA PELE</a:t>
            </a:r>
            <a:endParaRPr lang="en-US" sz="2720" dirty="0"/>
          </a:p>
        </p:txBody>
      </p:sp>
      <p:sp>
        <p:nvSpPr>
          <p:cNvPr id="6" name="Text 4"/>
          <p:cNvSpPr txBox="1"/>
          <p:nvPr/>
        </p:nvSpPr>
        <p:spPr>
          <a:xfrm>
            <a:off x="833120" y="4881880"/>
            <a:ext cx="3155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Espaço interativo sobre a preparação e os figurinos das grandes mulheres da MPB, com bancadas de experimentação dos produtos e camarim fotográfico.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4551680" y="2082800"/>
            <a:ext cx="185920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VAREJO E SUSTENTABILIDADE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4551680" y="2250440"/>
            <a:ext cx="28722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2720" spc="14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JARDIM, CAFÉ E LOJA</a:t>
            </a:r>
            <a:endParaRPr lang="en-US" sz="2720" dirty="0"/>
          </a:p>
        </p:txBody>
      </p:sp>
      <p:sp>
        <p:nvSpPr>
          <p:cNvPr id="9" name="Text 7"/>
          <p:cNvSpPr txBox="1"/>
          <p:nvPr/>
        </p:nvSpPr>
        <p:spPr>
          <a:xfrm>
            <a:off x="4551680" y="5064760"/>
            <a:ext cx="3155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Naming rights do café, embalagens sustentáveis e vinil exclusivo com curadoria da marca.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8270240" y="2082800"/>
            <a:ext cx="145215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9A6E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CONTEÚDO E CULTURA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8270240" y="2250440"/>
            <a:ext cx="315529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2720" spc="14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ESTÚDIO DE GRAVAÇÃO VIVO</a:t>
            </a:r>
            <a:endParaRPr lang="en-US" sz="2720" dirty="0"/>
          </a:p>
        </p:txBody>
      </p:sp>
      <p:sp>
        <p:nvSpPr>
          <p:cNvPr id="12" name="Text 10"/>
          <p:cNvSpPr txBox="1"/>
          <p:nvPr/>
        </p:nvSpPr>
        <p:spPr>
          <a:xfrm>
            <a:off x="8270240" y="5064760"/>
            <a:ext cx="3155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Podcasts com artistas contemporâneas sobre suas referências, gerando branded content L’Occitane.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579120" y="6497320"/>
            <a:ext cx="621109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Territórios</a:t>
            </a:r>
            <a:endParaRPr lang="en-US" sz="760" dirty="0"/>
          </a:p>
        </p:txBody>
      </p:sp>
      <p:sp>
        <p:nvSpPr>
          <p:cNvPr id="14" name="Text 12"/>
          <p:cNvSpPr txBox="1"/>
          <p:nvPr/>
        </p:nvSpPr>
        <p:spPr>
          <a:xfrm>
            <a:off x="8771414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15" name="Text 13"/>
          <p:cNvSpPr txBox="1"/>
          <p:nvPr/>
        </p:nvSpPr>
        <p:spPr>
          <a:xfrm>
            <a:off x="11321304" y="6492240"/>
            <a:ext cx="23676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08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6745" y="544068"/>
            <a:ext cx="876237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AMPLIFICAÇÃO</a:t>
            </a:r>
            <a:endParaRPr lang="en-US" sz="720" dirty="0"/>
          </a:p>
        </p:txBody>
      </p:sp>
      <p:sp>
        <p:nvSpPr>
          <p:cNvPr id="3" name="Text 1"/>
          <p:cNvSpPr txBox="1"/>
          <p:nvPr/>
        </p:nvSpPr>
        <p:spPr>
          <a:xfrm>
            <a:off x="579120" y="627888"/>
            <a:ext cx="5382768" cy="150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ECOSSISTEMA MULTICANAL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 AMPLIFICAÇÃO</a:t>
            </a:r>
            <a:endParaRPr lang="en-US" sz="416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2574766"/>
            <a:ext cx="416355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0"/>
              </a:lnSpc>
              <a:buNone/>
            </a:pPr>
            <a:r>
              <a:rPr lang="en-US" sz="12000" spc="60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25 MI+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579120" y="3979386"/>
            <a:ext cx="1884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spc="134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IMPACTOS ESTIMADOS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6695440" y="1391920"/>
            <a:ext cx="1102027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5A3A0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MÍDIA ORGÂNICA</a:t>
            </a:r>
            <a:endParaRPr lang="en-US" sz="720" dirty="0"/>
          </a:p>
        </p:txBody>
      </p:sp>
      <p:sp>
        <p:nvSpPr>
          <p:cNvPr id="7" name="Text 5"/>
          <p:cNvSpPr txBox="1"/>
          <p:nvPr/>
        </p:nvSpPr>
        <p:spPr>
          <a:xfrm>
            <a:off x="6695440" y="1559560"/>
            <a:ext cx="21652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Redes da Vanessa, do Instituto e da L’Occitane.</a:t>
            </a:r>
            <a:endParaRPr lang="en-US" sz="960" dirty="0"/>
          </a:p>
        </p:txBody>
      </p:sp>
      <p:sp>
        <p:nvSpPr>
          <p:cNvPr id="8" name="Text 6"/>
          <p:cNvSpPr txBox="1"/>
          <p:nvPr/>
        </p:nvSpPr>
        <p:spPr>
          <a:xfrm>
            <a:off x="9311640" y="1391920"/>
            <a:ext cx="794337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MÍDIA PAGA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9311640" y="1559560"/>
            <a:ext cx="180279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2720" spc="14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R$ 500 MIL+</a:t>
            </a:r>
            <a:endParaRPr lang="en-US" sz="2720" dirty="0"/>
          </a:p>
        </p:txBody>
      </p:sp>
      <p:sp>
        <p:nvSpPr>
          <p:cNvPr id="10" name="Text 8"/>
          <p:cNvSpPr txBox="1"/>
          <p:nvPr/>
        </p:nvSpPr>
        <p:spPr>
          <a:xfrm>
            <a:off x="9311640" y="1927860"/>
            <a:ext cx="23722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em tráfego pago nas principais capitais.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6695440" y="2834640"/>
            <a:ext cx="1135205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ASSESSORIA E PR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6695440" y="3002280"/>
            <a:ext cx="21652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Mídia espontânea em TV, rádios e jornais.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9311640" y="2834640"/>
            <a:ext cx="124574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9A6E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CANAIS PARCEIROS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9311640" y="3002280"/>
            <a:ext cx="21652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Guias de turismo e cultura de prefeituras e governos.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6624320" y="4303268"/>
            <a:ext cx="126792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2B1C1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WEBSÉRIE “MATRIZES”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7908131" y="4257929"/>
            <a:ext cx="3784346" cy="36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4 episódios apresentados por Vanessa, com oferecimento da marca.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6624320" y="4746498"/>
            <a:ext cx="959882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2B1C1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REELS E SHORTS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7628096" y="4701159"/>
            <a:ext cx="3599339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Bastidores da montagem, com inserção discreta da marca.</a:t>
            </a:r>
            <a:endParaRPr lang="en-US" sz="920" dirty="0"/>
          </a:p>
        </p:txBody>
      </p:sp>
      <p:sp>
        <p:nvSpPr>
          <p:cNvPr id="19" name="Text 17"/>
          <p:cNvSpPr txBox="1"/>
          <p:nvPr/>
        </p:nvSpPr>
        <p:spPr>
          <a:xfrm>
            <a:off x="579120" y="6497320"/>
            <a:ext cx="757317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Amplificação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8771414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21" name="Text 19"/>
          <p:cNvSpPr txBox="1"/>
          <p:nvPr/>
        </p:nvSpPr>
        <p:spPr>
          <a:xfrm>
            <a:off x="11321304" y="6492240"/>
            <a:ext cx="23676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09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20241" y="544068"/>
            <a:ext cx="839391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2B1C1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COTA MÁSTER</a:t>
            </a:r>
            <a:endParaRPr lang="en-US" sz="720" dirty="0"/>
          </a:p>
        </p:txBody>
      </p:sp>
      <p:sp>
        <p:nvSpPr>
          <p:cNvPr id="3" name="Text 1"/>
          <p:cNvSpPr txBox="1"/>
          <p:nvPr/>
        </p:nvSpPr>
        <p:spPr>
          <a:xfrm>
            <a:off x="579120" y="627888"/>
            <a:ext cx="9301480" cy="100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COTA MÁSTER: O QUE A L’OCCITANE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B07F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RECEBE EM 5 ANOS</a:t>
            </a:r>
            <a:endParaRPr lang="en-US" sz="416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1930400"/>
            <a:ext cx="968962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spc="54" kern="0" dirty="0">
                <a:solidFill>
                  <a:srgbClr val="6E5A44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CONTRAPARTIDA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930400"/>
            <a:ext cx="1809607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spc="54" kern="0" dirty="0">
                <a:solidFill>
                  <a:srgbClr val="6E5A44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ENTREGA À L’OCCITANE (5 ANOS)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579120" y="2189988"/>
            <a:ext cx="2068576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b="1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Marca na logo do Instituto</a:t>
            </a:r>
            <a:endParaRPr lang="en-US" sz="104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189988"/>
            <a:ext cx="1969738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Sim (“Instituto L’Occitane”)</a:t>
            </a:r>
            <a:endParaRPr lang="en-US" sz="1040" dirty="0"/>
          </a:p>
        </p:txBody>
      </p:sp>
      <p:sp>
        <p:nvSpPr>
          <p:cNvPr id="8" name="Text 6"/>
          <p:cNvSpPr txBox="1"/>
          <p:nvPr/>
        </p:nvSpPr>
        <p:spPr>
          <a:xfrm>
            <a:off x="579120" y="2554637"/>
            <a:ext cx="1939354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b="1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Naming rights de espaço</a:t>
            </a:r>
            <a:endParaRPr lang="en-US" sz="104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554637"/>
            <a:ext cx="1308259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Todo o complexo</a:t>
            </a:r>
            <a:endParaRPr lang="en-US" sz="1040" dirty="0"/>
          </a:p>
        </p:txBody>
      </p:sp>
      <p:sp>
        <p:nvSpPr>
          <p:cNvPr id="10" name="Text 8"/>
          <p:cNvSpPr txBox="1"/>
          <p:nvPr/>
        </p:nvSpPr>
        <p:spPr>
          <a:xfrm>
            <a:off x="579120" y="2919286"/>
            <a:ext cx="650097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b="1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Pop-up</a:t>
            </a:r>
            <a:endParaRPr lang="en-US" sz="104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919286"/>
            <a:ext cx="5579935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Pop-up L’Occitane dentro do complexo, com lançamento no marco dos 50 anos</a:t>
            </a:r>
            <a:endParaRPr lang="en-US" sz="1040" dirty="0"/>
          </a:p>
        </p:txBody>
      </p:sp>
      <p:sp>
        <p:nvSpPr>
          <p:cNvPr id="12" name="Text 10"/>
          <p:cNvSpPr txBox="1"/>
          <p:nvPr/>
        </p:nvSpPr>
        <p:spPr>
          <a:xfrm>
            <a:off x="579120" y="3283934"/>
            <a:ext cx="1473105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b="1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Ativação sensorial</a:t>
            </a:r>
            <a:endParaRPr lang="en-US" sz="104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283934"/>
            <a:ext cx="1071991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Presença total</a:t>
            </a:r>
            <a:endParaRPr lang="en-US" sz="1040" dirty="0"/>
          </a:p>
        </p:txBody>
      </p:sp>
      <p:sp>
        <p:nvSpPr>
          <p:cNvPr id="14" name="Text 12"/>
          <p:cNvSpPr txBox="1"/>
          <p:nvPr/>
        </p:nvSpPr>
        <p:spPr>
          <a:xfrm>
            <a:off x="579120" y="3648583"/>
            <a:ext cx="1063085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b="1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Mídia digital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648583"/>
            <a:ext cx="1413034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100% dos materiais</a:t>
            </a:r>
            <a:endParaRPr lang="en-US" sz="1040" dirty="0"/>
          </a:p>
        </p:txBody>
      </p:sp>
      <p:sp>
        <p:nvSpPr>
          <p:cNvPr id="16" name="Text 14"/>
          <p:cNvSpPr txBox="1"/>
          <p:nvPr/>
        </p:nvSpPr>
        <p:spPr>
          <a:xfrm>
            <a:off x="579120" y="4013232"/>
            <a:ext cx="1695402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b="1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Eventos corporativos</a:t>
            </a:r>
            <a:endParaRPr lang="en-US" sz="104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013232"/>
            <a:ext cx="755745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4 por ano</a:t>
            </a:r>
            <a:endParaRPr lang="en-US" sz="1040" dirty="0"/>
          </a:p>
        </p:txBody>
      </p:sp>
      <p:sp>
        <p:nvSpPr>
          <p:cNvPr id="18" name="Text 16"/>
          <p:cNvSpPr txBox="1"/>
          <p:nvPr/>
        </p:nvSpPr>
        <p:spPr>
          <a:xfrm>
            <a:off x="579120" y="4377881"/>
            <a:ext cx="1257792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b="1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Incentivo fiscal</a:t>
            </a:r>
            <a:endParaRPr lang="en-US" sz="104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377881"/>
            <a:ext cx="2583894" cy="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4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100% elegível (Lei Rouanet / ProAC)</a:t>
            </a:r>
            <a:endParaRPr lang="en-US" sz="1040" dirty="0"/>
          </a:p>
        </p:txBody>
      </p:sp>
      <p:sp>
        <p:nvSpPr>
          <p:cNvPr id="20" name="Text 18"/>
          <p:cNvSpPr txBox="1"/>
          <p:nvPr/>
        </p:nvSpPr>
        <p:spPr>
          <a:xfrm>
            <a:off x="8950960" y="2123440"/>
            <a:ext cx="16128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320" spc="22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 ANOS</a:t>
            </a:r>
            <a:endParaRPr lang="en-US" sz="4320" dirty="0"/>
          </a:p>
        </p:txBody>
      </p:sp>
      <p:sp>
        <p:nvSpPr>
          <p:cNvPr id="21" name="Text 19"/>
          <p:cNvSpPr txBox="1"/>
          <p:nvPr/>
        </p:nvSpPr>
        <p:spPr>
          <a:xfrm>
            <a:off x="8950960" y="2669540"/>
            <a:ext cx="13030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de patrocínio master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8950960" y="3347720"/>
            <a:ext cx="341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320" spc="22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4320" dirty="0"/>
          </a:p>
        </p:txBody>
      </p:sp>
      <p:sp>
        <p:nvSpPr>
          <p:cNvPr id="23" name="Text 21"/>
          <p:cNvSpPr txBox="1"/>
          <p:nvPr/>
        </p:nvSpPr>
        <p:spPr>
          <a:xfrm>
            <a:off x="8950960" y="3893820"/>
            <a:ext cx="179808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eventos corporativos por ano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8950960" y="4572000"/>
            <a:ext cx="11753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320" spc="22" kern="0" dirty="0">
                <a:solidFill>
                  <a:srgbClr val="2B1C1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100%</a:t>
            </a:r>
            <a:endParaRPr lang="en-US" sz="4320" dirty="0"/>
          </a:p>
        </p:txBody>
      </p:sp>
      <p:sp>
        <p:nvSpPr>
          <p:cNvPr id="25" name="Text 23"/>
          <p:cNvSpPr txBox="1"/>
          <p:nvPr/>
        </p:nvSpPr>
        <p:spPr>
          <a:xfrm>
            <a:off x="8950960" y="5118100"/>
            <a:ext cx="154470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2B1C10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elegível a incentivo fiscal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579120" y="6497320"/>
            <a:ext cx="724313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2B1C1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Cota Máster</a:t>
            </a:r>
            <a:endParaRPr lang="en-US" sz="760" dirty="0"/>
          </a:p>
        </p:txBody>
      </p:sp>
      <p:sp>
        <p:nvSpPr>
          <p:cNvPr id="27" name="Text 25"/>
          <p:cNvSpPr txBox="1"/>
          <p:nvPr/>
        </p:nvSpPr>
        <p:spPr>
          <a:xfrm>
            <a:off x="8792528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2B1C1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28" name="Text 26"/>
          <p:cNvSpPr txBox="1"/>
          <p:nvPr/>
        </p:nvSpPr>
        <p:spPr>
          <a:xfrm>
            <a:off x="11343473" y="6492240"/>
            <a:ext cx="213535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2B1C1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10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8186" y="544068"/>
            <a:ext cx="764651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20" spc="43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CALENDÁRIO</a:t>
            </a:r>
            <a:endParaRPr lang="en-US" sz="720" dirty="0"/>
          </a:p>
        </p:txBody>
      </p:sp>
      <p:sp>
        <p:nvSpPr>
          <p:cNvPr id="3" name="Text 1"/>
          <p:cNvSpPr txBox="1"/>
          <p:nvPr/>
        </p:nvSpPr>
        <p:spPr>
          <a:xfrm>
            <a:off x="579120" y="627888"/>
            <a:ext cx="8476488" cy="100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CALENDÁRIO DE OPORTUNIDADES </a:t>
            </a:r>
            <a:pPr algn="l" indent="0" marL="0">
              <a:lnSpc>
                <a:spcPts val="3950"/>
              </a:lnSpc>
              <a:buNone/>
            </a:pPr>
            <a:r>
              <a:rPr lang="en-US" sz="4160" spc="21" kern="0" dirty="0">
                <a:solidFill>
                  <a:srgbClr val="F5C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PARA A L’OCCITANE</a:t>
            </a:r>
            <a:endParaRPr lang="en-US" sz="416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2804160"/>
            <a:ext cx="76762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NOVEMBRO</a:t>
            </a:r>
            <a:endParaRPr lang="en-US" sz="720" dirty="0"/>
          </a:p>
        </p:txBody>
      </p:sp>
      <p:sp>
        <p:nvSpPr>
          <p:cNvPr id="5" name="Text 3"/>
          <p:cNvSpPr txBox="1"/>
          <p:nvPr/>
        </p:nvSpPr>
        <p:spPr>
          <a:xfrm>
            <a:off x="579120" y="2990088"/>
            <a:ext cx="3423412" cy="65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400" spc="12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SINGLE, POP-UP E NOVA IDENTIDADE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79120" y="3747707"/>
            <a:ext cx="3423412" cy="36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Coquetel de imprensa, evento VIP de anúncio, abertura da pop-up L’Occitane e mídia espontânea.</a:t>
            </a:r>
            <a:endParaRPr lang="en-US" sz="920" dirty="0"/>
          </a:p>
        </p:txBody>
      </p:sp>
      <p:sp>
        <p:nvSpPr>
          <p:cNvPr id="7" name="Text 5"/>
          <p:cNvSpPr txBox="1"/>
          <p:nvPr/>
        </p:nvSpPr>
        <p:spPr>
          <a:xfrm>
            <a:off x="4330541" y="2804160"/>
            <a:ext cx="535718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MARÇO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4330541" y="2990088"/>
            <a:ext cx="3423412" cy="65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400" spc="12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NOVO ÁLBUM E INÍCIO DAS OBRAS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330541" y="3747707"/>
            <a:ext cx="3785838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Pedra fundamental e conteúdos de bastidores da construção.</a:t>
            </a:r>
            <a:endParaRPr lang="en-US" sz="920" dirty="0"/>
          </a:p>
        </p:txBody>
      </p:sp>
      <p:sp>
        <p:nvSpPr>
          <p:cNvPr id="10" name="Text 8"/>
          <p:cNvSpPr txBox="1"/>
          <p:nvPr/>
        </p:nvSpPr>
        <p:spPr>
          <a:xfrm>
            <a:off x="8026876" y="2804160"/>
            <a:ext cx="133096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F5C518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NOVEMBRO (ANO 27)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8026876" y="2990088"/>
            <a:ext cx="3423412" cy="65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400" spc="12" kern="0" dirty="0">
                <a:solidFill>
                  <a:srgbClr val="F6EED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INAUGURAÇÃO DA ETAPA 1 DO MUSEU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026876" y="3747707"/>
            <a:ext cx="3423412" cy="36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2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Show exclusivo com VIPs, imprensa nacional e abertura da bilheteria.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579120" y="6497320"/>
            <a:ext cx="647478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Calendário</a:t>
            </a:r>
            <a:endParaRPr lang="en-US" sz="760" dirty="0"/>
          </a:p>
        </p:txBody>
      </p:sp>
      <p:sp>
        <p:nvSpPr>
          <p:cNvPr id="14" name="Text 12"/>
          <p:cNvSpPr txBox="1"/>
          <p:nvPr/>
        </p:nvSpPr>
        <p:spPr>
          <a:xfrm>
            <a:off x="8813006" y="6497320"/>
            <a:ext cx="273442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L’Occitane en Provence × Instituto Vanessa da Mata</a:t>
            </a:r>
            <a:endParaRPr lang="en-US" sz="760" dirty="0"/>
          </a:p>
        </p:txBody>
      </p:sp>
      <p:sp>
        <p:nvSpPr>
          <p:cNvPr id="15" name="Text 13"/>
          <p:cNvSpPr txBox="1"/>
          <p:nvPr/>
        </p:nvSpPr>
        <p:spPr>
          <a:xfrm>
            <a:off x="11366032" y="6492240"/>
            <a:ext cx="188738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spc="30" kern="0" dirty="0">
                <a:solidFill>
                  <a:srgbClr val="F6EED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11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1" descr="loc/p12_im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178" y="2951004"/>
            <a:ext cx="1731645" cy="111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98950" y="1524000"/>
            <a:ext cx="35941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520" spc="211" kern="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L’OCCITANE</a:t>
            </a:r>
            <a:endParaRPr lang="en-US" sz="3520" dirty="0"/>
          </a:p>
        </p:txBody>
      </p:sp>
      <p:sp>
        <p:nvSpPr>
          <p:cNvPr id="4" name="Text 1"/>
          <p:cNvSpPr txBox="1"/>
          <p:nvPr/>
        </p:nvSpPr>
        <p:spPr>
          <a:xfrm>
            <a:off x="4890230" y="2029085"/>
            <a:ext cx="2411540" cy="187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0"/>
              </a:lnSpc>
              <a:buNone/>
            </a:pPr>
            <a:r>
              <a:rPr lang="en-US" sz="1480" spc="473" kern="0" dirty="0">
                <a:solidFill>
                  <a:srgbClr val="F6EEDF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EN PROVENCE</a:t>
            </a:r>
            <a:endParaRPr lang="en-US" sz="1480" dirty="0"/>
          </a:p>
        </p:txBody>
      </p:sp>
      <p:sp>
        <p:nvSpPr>
          <p:cNvPr id="5" name="Text 2"/>
          <p:cNvSpPr txBox="1"/>
          <p:nvPr/>
        </p:nvSpPr>
        <p:spPr>
          <a:xfrm>
            <a:off x="5984780" y="2453164"/>
            <a:ext cx="2224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60" dirty="0">
                <a:solidFill>
                  <a:srgbClr val="C2B4A3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×</a:t>
            </a:r>
            <a:endParaRPr lang="en-US" sz="1760" dirty="0"/>
          </a:p>
        </p:txBody>
      </p:sp>
      <p:sp>
        <p:nvSpPr>
          <p:cNvPr id="6" name="Text 3"/>
          <p:cNvSpPr txBox="1"/>
          <p:nvPr/>
        </p:nvSpPr>
        <p:spPr>
          <a:xfrm>
            <a:off x="3329607" y="6024880"/>
            <a:ext cx="553278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2" kern="0" dirty="0">
                <a:solidFill>
                  <a:srgbClr val="BAB1A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PROPOSTA EXCLUSIVA · L’OCCITANE EN PROVENCE · PATROCÍNIO MASTER DE 5 ANOS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Vanessa da Mata x L'Occitane</dc:title>
  <dc:subject>PptxGenJS Presentation</dc:subject>
  <dc:creator>PptxGenJS</dc:creator>
  <cp:lastModifiedBy>PptxGenJS</cp:lastModifiedBy>
  <cp:revision>1</cp:revision>
  <dcterms:created xsi:type="dcterms:W3CDTF">2026-10-05T14:22:00Z</dcterms:created>
  <dcterms:modified xsi:type="dcterms:W3CDTF">2026-10-05T14:22:00Z</dcterms:modified>
</cp:coreProperties>
</file>