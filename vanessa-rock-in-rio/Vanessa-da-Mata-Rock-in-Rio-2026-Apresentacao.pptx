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3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Visualizações</c:v>
                </c:pt>
              </c:strCache>
            </c:strRef>
          </c:tx>
          <c:spPr>
            <a:solidFill>
              <a:srgbClr val="A8761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6B6459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Bastidores</c:v>
                  </c:pt>
                  <c:pt idx="1">
                    <c:v>O Rock in Rio, para um brasileiro</c:v>
                  </c:pt>
                  <c:pt idx="2">
                    <c:v>Te espero hoje às 15h</c:v>
                  </c:pt>
                  <c:pt idx="3">
                    <c:v>Colab Marie Claire</c:v>
                  </c:pt>
                  <c:pt idx="4">
                    <c:v>Eu te apoio em sua fé</c:v>
                  </c:pt>
                  <c:pt idx="5">
                    <c:v>Colab com Rubel</c:v>
                  </c:pt>
                  <c:pt idx="6">
                    <c:v>Reel dos lírios — globoplay + Multishow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37902</c:v>
                </c:pt>
                <c:pt idx="1">
                  <c:v>54466</c:v>
                </c:pt>
                <c:pt idx="2">
                  <c:v>81518</c:v>
                </c:pt>
                <c:pt idx="3">
                  <c:v>122055</c:v>
                </c:pt>
                <c:pt idx="4">
                  <c:v>172622</c:v>
                </c:pt>
                <c:pt idx="5">
                  <c:v>181780</c:v>
                </c:pt>
                <c:pt idx="6">
                  <c:v>315753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6B6459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14110F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645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Marie Claire</c:v>
                </c:pt>
              </c:strCache>
            </c:strRef>
          </c:tx>
          <c:spPr>
            <a:solidFill>
              <a:srgbClr val="9E3D2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18-24</c:v>
                  </c:pt>
                  <c:pt idx="1">
                    <c:v>25-34</c:v>
                  </c:pt>
                  <c:pt idx="2">
                    <c:v>35-44</c:v>
                  </c:pt>
                  <c:pt idx="3">
                    <c:v>45-54</c:v>
                  </c:pt>
                  <c:pt idx="4">
                    <c:v>55+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12.8</c:v>
                </c:pt>
                <c:pt idx="1">
                  <c:v>30.1</c:v>
                </c:pt>
                <c:pt idx="2">
                  <c:v>26.5</c:v>
                </c:pt>
                <c:pt idx="3">
                  <c:v>19.1</c:v>
                </c:pt>
                <c:pt idx="4">
                  <c:v>10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Reel dos lírios</c:v>
                </c:pt>
              </c:strCache>
            </c:strRef>
          </c:tx>
          <c:spPr>
            <a:solidFill>
              <a:srgbClr val="A8761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18-24</c:v>
                  </c:pt>
                  <c:pt idx="1">
                    <c:v>25-34</c:v>
                  </c:pt>
                  <c:pt idx="2">
                    <c:v>35-44</c:v>
                  </c:pt>
                  <c:pt idx="3">
                    <c:v>45-54</c:v>
                  </c:pt>
                  <c:pt idx="4">
                    <c:v>55+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10</c:v>
                </c:pt>
                <c:pt idx="1">
                  <c:v>28.1</c:v>
                </c:pt>
                <c:pt idx="2">
                  <c:v>26.2</c:v>
                </c:pt>
                <c:pt idx="3">
                  <c:v>21.2</c:v>
                </c:pt>
                <c:pt idx="4">
                  <c:v>13.5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Colab com Rubel</c:v>
                </c:pt>
              </c:strCache>
            </c:strRef>
          </c:tx>
          <c:spPr>
            <a:solidFill>
              <a:srgbClr val="2472A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18-24</c:v>
                  </c:pt>
                  <c:pt idx="1">
                    <c:v>25-34</c:v>
                  </c:pt>
                  <c:pt idx="2">
                    <c:v>35-44</c:v>
                  </c:pt>
                  <c:pt idx="3">
                    <c:v>45-54</c:v>
                  </c:pt>
                  <c:pt idx="4">
                    <c:v>55+</c:v>
                  </c:pt>
                </c:lvl>
              </c:multiLvlStrCache>
            </c:multiLvl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29.2</c:v>
                </c:pt>
                <c:pt idx="1">
                  <c:v>43</c:v>
                </c:pt>
                <c:pt idx="2">
                  <c:v>15.7</c:v>
                </c:pt>
                <c:pt idx="3">
                  <c:v>6.2</c:v>
                </c:pt>
                <c:pt idx="4">
                  <c:v>3.4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4110F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CD8D0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645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4110F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Espectadores</c:v>
                </c:pt>
              </c:strCache>
            </c:strRef>
          </c:tx>
          <c:spPr>
            <a:solidFill>
              <a:srgbClr val="A8761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6B6459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Look do dia</c:v>
                  </c:pt>
                  <c:pt idx="1">
                    <c:v>Bastidores em P&amp;B</c:v>
                  </c:pt>
                  <c:pt idx="2">
                    <c:v>Nos bastidores</c:v>
                  </c:pt>
                  <c:pt idx="3">
                    <c:v>Palco em luz vermelha</c:v>
                  </c:pt>
                  <c:pt idx="4">
                    <c:v>Vista do público</c:v>
                  </c:pt>
                  <c:pt idx="5">
                    <c:v>No palco com o convidado</c:v>
                  </c:pt>
                  <c:pt idx="6">
                    <c:v>Céu da Cidade do Rock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10100</c:v>
                </c:pt>
                <c:pt idx="1">
                  <c:v>9794</c:v>
                </c:pt>
                <c:pt idx="2">
                  <c:v>9770</c:v>
                </c:pt>
                <c:pt idx="3">
                  <c:v>9138</c:v>
                </c:pt>
                <c:pt idx="4">
                  <c:v>8958</c:v>
                </c:pt>
                <c:pt idx="5">
                  <c:v>8823</c:v>
                </c:pt>
                <c:pt idx="6">
                  <c:v>8320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6B6459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14110F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Abertura. O show foi a primeira atração do dia no Sunset e a primeira transmitida ao vivo — o Multishow entrou no ar às 14h45.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1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publico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172200" y="0"/>
            <a:ext cx="5989320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31520" y="82296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60" kern="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RELATÓRIO DE PERFORMANCE DIGITAL</a:t>
            </a:r>
            <a:endParaRPr lang="en-US" sz="1050" dirty="0"/>
          </a:p>
        </p:txBody>
      </p:sp>
      <p:sp>
        <p:nvSpPr>
          <p:cNvPr id="4" name="Text 1"/>
          <p:cNvSpPr txBox="1"/>
          <p:nvPr/>
        </p:nvSpPr>
        <p:spPr>
          <a:xfrm>
            <a:off x="731520" y="1417320"/>
            <a:ext cx="5394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Vanessa</a:t>
            </a:r>
            <a:endParaRPr lang="en-US" sz="54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2286000"/>
            <a:ext cx="5394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 Mata</a:t>
            </a:r>
            <a:endParaRPr lang="en-US" sz="54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320040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i="1" dirty="0">
                <a:solidFill>
                  <a:srgbClr val="D4A8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Rock in Rio</a:t>
            </a:r>
            <a:endParaRPr lang="en-US" sz="36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425196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Palco Sunset · 7 de setembro de 2026 · 15h00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466344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C9C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Primeira atração do dia. Primeira no ar na transmissão nacional.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603504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40" kern="0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Apuração: 5 a 9 de setembro de 2026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A87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14300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ACONTECEU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566928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11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 show de abertura, em condições difíceis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685800" y="1874520"/>
            <a:ext cx="2560320" cy="2286000"/>
          </a:xfrm>
          <a:prstGeom prst="roundRect">
            <a:avLst>
              <a:gd name="adj" fmla="val 2400"/>
            </a:avLst>
          </a:prstGeom>
          <a:solidFill>
            <a:srgbClr val="F4F3F0"/>
          </a:solidFill>
          <a:ln w="6350">
            <a:solidFill>
              <a:srgbClr val="DCD8D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41832" y="214884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A87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15h00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941832" y="274320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411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Primeira atração do Palco Sunset, no feriado de 7 de setembro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474720" y="1874520"/>
            <a:ext cx="2560320" cy="2286000"/>
          </a:xfrm>
          <a:prstGeom prst="roundRect">
            <a:avLst>
              <a:gd name="adj" fmla="val 2400"/>
            </a:avLst>
          </a:prstGeom>
          <a:solidFill>
            <a:srgbClr val="F4F3F0"/>
          </a:solidFill>
          <a:ln w="6350">
            <a:solidFill>
              <a:srgbClr val="DCD8D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30752" y="214884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A87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14h45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3730752" y="274320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411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Multishow entra ao vivo — ela abre a transmissão nacional do dia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263640" y="1874520"/>
            <a:ext cx="2560320" cy="2286000"/>
          </a:xfrm>
          <a:prstGeom prst="roundRect">
            <a:avLst>
              <a:gd name="adj" fmla="val 2400"/>
            </a:avLst>
          </a:prstGeom>
          <a:solidFill>
            <a:srgbClr val="F4F3F0"/>
          </a:solidFill>
          <a:ln w="6350">
            <a:solidFill>
              <a:srgbClr val="DCD8D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519672" y="214884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A87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Chuva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6519672" y="274320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411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tarde começa com chuva e a pista ainda enchendo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9052560" y="1874520"/>
            <a:ext cx="2560320" cy="2286000"/>
          </a:xfrm>
          <a:prstGeom prst="roundRect">
            <a:avLst>
              <a:gd name="adj" fmla="val 2400"/>
            </a:avLst>
          </a:prstGeom>
          <a:solidFill>
            <a:srgbClr val="F4F3F0"/>
          </a:solidFill>
          <a:ln w="6350">
            <a:solidFill>
              <a:srgbClr val="DCD8D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308592" y="214884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A87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Esgotado</a:t>
            </a:r>
            <a:endParaRPr lang="en-US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9308592" y="274320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411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 com ingressos esgotados, em festival com capacidade para 100 mil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685800" y="461772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700" i="1" dirty="0">
                <a:solidFill>
                  <a:srgbClr val="1411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 ainda assim: 8º lugar entre os assuntos mais comentados do Brasil no X, no mesmo dia em que Elton John encerrava o Palco Mundo.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685800" y="617220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e transmissão verificadas em fontes oficiais. Posição no trending informada pela equipe digital.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A87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14300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RESULTADO DIGITAL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566928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11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números do perfil da Vanessa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78308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A87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1,07 mi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496312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1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Visualizações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89864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 + stories, no período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4343400" y="178308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A87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966 mil</a:t>
            </a:r>
            <a:endParaRPr lang="en-US" sz="3600" dirty="0"/>
          </a:p>
        </p:txBody>
      </p:sp>
      <p:sp>
        <p:nvSpPr>
          <p:cNvPr id="9" name="Text 7"/>
          <p:cNvSpPr txBox="1"/>
          <p:nvPr/>
        </p:nvSpPr>
        <p:spPr>
          <a:xfrm>
            <a:off x="4343400" y="2496312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1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Visualizações no feed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4343400" y="289864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publicações sobre o show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8001000" y="178308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A87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81,4 mil</a:t>
            </a:r>
            <a:endParaRPr lang="en-US" sz="3600" dirty="0"/>
          </a:p>
        </p:txBody>
      </p:sp>
      <p:sp>
        <p:nvSpPr>
          <p:cNvPr id="12" name="Text 10"/>
          <p:cNvSpPr txBox="1"/>
          <p:nvPr/>
        </p:nvSpPr>
        <p:spPr>
          <a:xfrm>
            <a:off x="8001000" y="2496312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1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Interações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001000" y="289864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Curtidas, comentários, reposts, compart. e salvos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685800" y="393192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A87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8,4%</a:t>
            </a:r>
            <a:endParaRPr lang="en-US" sz="3600" dirty="0"/>
          </a:p>
        </p:txBody>
      </p:sp>
      <p:sp>
        <p:nvSpPr>
          <p:cNvPr id="15" name="Text 13"/>
          <p:cNvSpPr txBox="1"/>
          <p:nvPr/>
        </p:nvSpPr>
        <p:spPr>
          <a:xfrm>
            <a:off x="685800" y="4645152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1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Taxa de engajamento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85800" y="504748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Interações sobre visualizações do feed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4343400" y="393192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A87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405</a:t>
            </a:r>
            <a:endParaRPr lang="en-US" sz="3600" dirty="0"/>
          </a:p>
        </p:txBody>
      </p:sp>
      <p:sp>
        <p:nvSpPr>
          <p:cNvPr id="18" name="Text 16"/>
          <p:cNvSpPr txBox="1"/>
          <p:nvPr/>
        </p:nvSpPr>
        <p:spPr>
          <a:xfrm>
            <a:off x="4343400" y="4645152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1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Novos seguidores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4343400" y="504748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Atribuídos diretamente aos posts próprios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8001000" y="393192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A87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106 mil</a:t>
            </a:r>
            <a:endParaRPr lang="en-US" sz="3600" dirty="0"/>
          </a:p>
        </p:txBody>
      </p:sp>
      <p:sp>
        <p:nvSpPr>
          <p:cNvPr id="21" name="Text 19"/>
          <p:cNvSpPr txBox="1"/>
          <p:nvPr/>
        </p:nvSpPr>
        <p:spPr>
          <a:xfrm>
            <a:off x="8001000" y="4645152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1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Visualizações em stories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8001000" y="504748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stories medidos, de 11 publicados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685800" y="617220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Instagram Insights do perfil, capturado em 9 de setembro. Visualizações contam exibições, não pessoas únicas.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1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371600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40" kern="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ALCANCE TOTAL NO INSTAGRAM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1737360"/>
            <a:ext cx="4572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D4A8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1,07</a:t>
            </a:r>
            <a:endParaRPr lang="en-US" sz="11000" dirty="0"/>
          </a:p>
        </p:txBody>
      </p:sp>
      <p:sp>
        <p:nvSpPr>
          <p:cNvPr id="4" name="Text 2"/>
          <p:cNvSpPr txBox="1"/>
          <p:nvPr/>
        </p:nvSpPr>
        <p:spPr>
          <a:xfrm>
            <a:off x="4206240" y="274320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MILHÃO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931920"/>
            <a:ext cx="5669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visualizações geradas pelo conteúdo do show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480060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966 mil no feed  +  106 mil em stories</a:t>
            </a:r>
            <a:endParaRPr lang="en-US" sz="1300" dirty="0"/>
          </a:p>
        </p:txBody>
      </p:sp>
      <p:pic>
        <p:nvPicPr>
          <p:cNvPr id="7" name="Image 0" descr="img/pb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406640" y="1188720"/>
            <a:ext cx="3931920" cy="448056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85800" y="608076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Soma das visualizações de 7 publicações de feed e 8 stories medidos. Visualizações contam exibições, não pessoas únicas.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A87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14300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CONTEÚDOS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566928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11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mais performou</a:t>
            </a:r>
            <a:endParaRPr lang="en-US" sz="3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640080" y="1691640"/>
          <a:ext cx="731520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8229600" y="19202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1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três colaborações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8229600" y="233172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A87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64%</a:t>
            </a:r>
            <a:endParaRPr lang="en-US" sz="5600" dirty="0"/>
          </a:p>
        </p:txBody>
      </p:sp>
      <p:sp>
        <p:nvSpPr>
          <p:cNvPr id="8" name="Text 5"/>
          <p:cNvSpPr txBox="1"/>
          <p:nvPr/>
        </p:nvSpPr>
        <p:spPr>
          <a:xfrm>
            <a:off x="8229600" y="3429000"/>
            <a:ext cx="3291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1411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visualizações do feed vieram de 3 posts em colaboração — globoplay + Multishow, Rubel e Marie Claire.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8229600" y="47548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7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Nenhuma com mídia paga.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685800" y="617220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Instagram Insights, por publicação.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A87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14300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CONTEÚDO Nº 1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566928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11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315.753 visualizações em um único reel</a:t>
            </a:r>
            <a:endParaRPr lang="en-US" sz="3400" dirty="0"/>
          </a:p>
        </p:txBody>
      </p:sp>
      <p:pic>
        <p:nvPicPr>
          <p:cNvPr id="5" name="Image 0" descr="img/perfil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85800" y="1737360"/>
            <a:ext cx="3200400" cy="41148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251960" y="18288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A87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215.194</a:t>
            </a:r>
            <a:endParaRPr lang="en-US" sz="2400" dirty="0"/>
          </a:p>
        </p:txBody>
      </p:sp>
      <p:sp>
        <p:nvSpPr>
          <p:cNvPr id="7" name="Text 4"/>
          <p:cNvSpPr txBox="1"/>
          <p:nvPr/>
        </p:nvSpPr>
        <p:spPr>
          <a:xfrm>
            <a:off x="4251960" y="23317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visualizadores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6720840" y="18288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A87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26,7 mil</a:t>
            </a:r>
            <a:endParaRPr lang="en-US" sz="2400" dirty="0"/>
          </a:p>
        </p:txBody>
      </p:sp>
      <p:sp>
        <p:nvSpPr>
          <p:cNvPr id="9" name="Text 6"/>
          <p:cNvSpPr txBox="1"/>
          <p:nvPr/>
        </p:nvSpPr>
        <p:spPr>
          <a:xfrm>
            <a:off x="6720840" y="23317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curtidas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9189720" y="18288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A87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1,3 mil</a:t>
            </a:r>
            <a:endParaRPr lang="en-US" sz="2400" dirty="0"/>
          </a:p>
        </p:txBody>
      </p:sp>
      <p:sp>
        <p:nvSpPr>
          <p:cNvPr id="11" name="Text 8"/>
          <p:cNvSpPr txBox="1"/>
          <p:nvPr/>
        </p:nvSpPr>
        <p:spPr>
          <a:xfrm>
            <a:off x="9189720" y="23317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compartilhamentos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4251960" y="30632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A87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1,1 mil</a:t>
            </a:r>
            <a:endParaRPr lang="en-US" sz="2400" dirty="0"/>
          </a:p>
        </p:txBody>
      </p:sp>
      <p:sp>
        <p:nvSpPr>
          <p:cNvPr id="13" name="Text 10"/>
          <p:cNvSpPr txBox="1"/>
          <p:nvPr/>
        </p:nvSpPr>
        <p:spPr>
          <a:xfrm>
            <a:off x="4251960" y="35661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reposts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6720840" y="30632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A87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921</a:t>
            </a:r>
            <a:endParaRPr lang="en-US" sz="2400" dirty="0"/>
          </a:p>
        </p:txBody>
      </p:sp>
      <p:sp>
        <p:nvSpPr>
          <p:cNvPr id="15" name="Text 12"/>
          <p:cNvSpPr txBox="1"/>
          <p:nvPr/>
        </p:nvSpPr>
        <p:spPr>
          <a:xfrm>
            <a:off x="6720840" y="35661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comentários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9189720" y="30632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A87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 s</a:t>
            </a:r>
            <a:endParaRPr lang="en-US" sz="2400" dirty="0"/>
          </a:p>
        </p:txBody>
      </p:sp>
      <p:sp>
        <p:nvSpPr>
          <p:cNvPr id="17" name="Text 14"/>
          <p:cNvSpPr txBox="1"/>
          <p:nvPr/>
        </p:nvSpPr>
        <p:spPr>
          <a:xfrm>
            <a:off x="9189720" y="35661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 médio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4251960" y="4480560"/>
            <a:ext cx="7223760" cy="1371600"/>
          </a:xfrm>
          <a:prstGeom prst="roundRect">
            <a:avLst>
              <a:gd name="adj" fmla="val 4000"/>
            </a:avLst>
          </a:prstGeom>
          <a:solidFill>
            <a:srgbClr val="F4F3F0"/>
          </a:solidFill>
          <a:ln w="6350">
            <a:solidFill>
              <a:srgbClr val="DCD8D0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4526280" y="4663440"/>
            <a:ext cx="6675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1411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Publicado em colaboração com globoplay e Multishow, com post cruzado no Facebook. Taxa de curtidas de 12% — a mais alta da conta na faixa. É o conteúdo que transformou a transmissão de TV em alcance digital.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685800" y="617220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315.753 visualizações: 303.021 no Instagram e 12.732 no Facebook.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A87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14300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COLABORAÇÃO EDITORIAL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566928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11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Marie Claire: a capa que abriu outro público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82880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A87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122.055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54203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1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visualizações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3474720" y="182880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A87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56.340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3474720" y="254203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1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visualizadores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263640" y="182880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A87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4,1 mil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6263640" y="254203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1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curtidas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9052560" y="182880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A87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64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9052560" y="254203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1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salvamentos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85800" y="3429000"/>
            <a:ext cx="5257800" cy="2377440"/>
          </a:xfrm>
          <a:prstGeom prst="roundRect">
            <a:avLst>
              <a:gd name="adj" fmla="val 2308"/>
            </a:avLst>
          </a:prstGeom>
          <a:solidFill>
            <a:srgbClr val="F4F3F0"/>
          </a:solidFill>
          <a:ln w="6350">
            <a:solidFill>
              <a:srgbClr val="DCD8D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60120" y="3657600"/>
            <a:ext cx="4709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i="1" dirty="0">
                <a:solidFill>
                  <a:srgbClr val="1411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“Carrego um pouco de grandes mulheres no palco”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4434840"/>
            <a:ext cx="4709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Matéria de capa da Marie Claire sobre o primeiro show dela no Rock in Rio, após mais de 20 anos de carreira — publicada como colaboração no perfil.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17920" y="3429000"/>
            <a:ext cx="5257800" cy="2377440"/>
          </a:xfrm>
          <a:prstGeom prst="roundRect">
            <a:avLst>
              <a:gd name="adj" fmla="val 2308"/>
            </a:avLst>
          </a:prstGeom>
          <a:solidFill>
            <a:srgbClr val="14110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92240" y="3611880"/>
            <a:ext cx="4709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D4A8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29,1%</a:t>
            </a:r>
            <a:endParaRPr lang="en-US" sz="4000" dirty="0"/>
          </a:p>
        </p:txBody>
      </p:sp>
      <p:sp>
        <p:nvSpPr>
          <p:cNvPr id="18" name="Text 16"/>
          <p:cNvSpPr txBox="1"/>
          <p:nvPr/>
        </p:nvSpPr>
        <p:spPr>
          <a:xfrm>
            <a:off x="6492240" y="443484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público com 45 anos ou mais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492240" y="4846320"/>
            <a:ext cx="4709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C9C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Três vezes a fatia 45+ do post em colaboração com Rubel, que ficou em 9,6%. Marca de imprensa entrega o público que o algoritmo sozinho não alcança.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685800" y="617220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Instagram Insights do post em colaboração com @marieclairebr.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A87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14300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PÚBLICO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566928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11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Cada conteúdo trouxe uma geração diferente</a:t>
            </a:r>
            <a:endParaRPr lang="en-US" sz="3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640080" y="1737360"/>
          <a:ext cx="740664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8321040" y="18288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1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leitura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8321040" y="2286000"/>
            <a:ext cx="3200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1411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colab com Rubel concentrou 72% do público entre 18 e 34 anos. A Marie Claire puxou 45+. O reel de maior alcance ficou no meio, equilibrado.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8321040" y="3840480"/>
            <a:ext cx="3200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i="1" dirty="0">
                <a:solidFill>
                  <a:srgbClr val="A87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 pacote de conteúdo só cobre três gerações se for desenhado para isso.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617220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Distribuição etária dos visualizadores, por publicação. Fonte: Instagram Insights.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1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A87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14300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C9C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ALCANCE ORGÂNICO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566928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Metade do alcance veio de quem não segue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201168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D4A8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57,4%</a:t>
            </a:r>
            <a:endParaRPr lang="en-US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9260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não seguidores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338328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te apoio em sua fé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397764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C9C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172.622 visualizações · 274 novos seguidores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4343400" y="201168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D4A8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43,8%</a:t>
            </a:r>
            <a:endParaRPr lang="en-US" sz="4800" dirty="0"/>
          </a:p>
        </p:txBody>
      </p:sp>
      <p:sp>
        <p:nvSpPr>
          <p:cNvPr id="10" name="Text 8"/>
          <p:cNvSpPr txBox="1"/>
          <p:nvPr/>
        </p:nvSpPr>
        <p:spPr>
          <a:xfrm>
            <a:off x="4343400" y="29260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não seguidores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4343400" y="338328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Rock in Rio, para um brasileiro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343400" y="397764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C9C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54.466 visualizações · 54 novos seguidores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8001000" y="201168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D4A8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42,5%</a:t>
            </a:r>
            <a:endParaRPr lang="en-US" sz="4800" dirty="0"/>
          </a:p>
        </p:txBody>
      </p:sp>
      <p:sp>
        <p:nvSpPr>
          <p:cNvPr id="14" name="Text 12"/>
          <p:cNvSpPr txBox="1"/>
          <p:nvPr/>
        </p:nvSpPr>
        <p:spPr>
          <a:xfrm>
            <a:off x="8001000" y="29260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não seguidores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8001000" y="338328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 espero hoje às 15h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8001000" y="397764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C9C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81.518 visualizações · 64 novos seguidores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685800" y="502920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i="1" dirty="0">
                <a:solidFill>
                  <a:srgbClr val="D4A8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Conteúdo que só circula entre seguidores documenta o show. Conteúdo que sai da base constrói audiência nova — e foi o que aconteceu.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85800" y="612648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aba Público de cada reel no Instagram Insights.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A87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14300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566928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11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post de convocação foi o mais curtido de todos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82880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0" b="1" dirty="0">
                <a:solidFill>
                  <a:srgbClr val="A87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16,1%</a:t>
            </a:r>
            <a:endParaRPr lang="en-US" sz="76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31546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1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taxa de curtidas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361188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maior da conta na faixa analisada — registrada pelo próprio Instagram como “mais alto”.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846320" y="1783080"/>
            <a:ext cx="6629400" cy="2926080"/>
          </a:xfrm>
          <a:prstGeom prst="roundRect">
            <a:avLst>
              <a:gd name="adj" fmla="val 1875"/>
            </a:avLst>
          </a:prstGeom>
          <a:solidFill>
            <a:srgbClr val="F4F3F0"/>
          </a:solidFill>
          <a:ln w="6350">
            <a:solidFill>
              <a:srgbClr val="DCD8D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166360" y="2011680"/>
            <a:ext cx="6035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11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“Te espero hoje às 15h no Palco Sunset”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5166360" y="2606040"/>
            <a:ext cx="6035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411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Publicado horas antes do show, marcando o compromisso com o público. Resultado: 81.518 visualizações, 50.341 visualizadores, 42,5% deles fora da base de seguidores, e 64 novos seguidores.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5166360" y="379476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i="1" dirty="0">
                <a:solidFill>
                  <a:srgbClr val="A87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Convocar não é só avisar: é criar hora marcada. O público apareceu — e curtiu mais do que em qualquer outro conteúdo do período.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512064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411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405 novos seguidores atribuídos diretamente às publicações próprias do período.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85800" y="617220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Taxas de curtidas conforme o painel “O que afeta suas visualizações” do Instagram.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A87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14300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COBERTURA EM TEMPO REAL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566928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11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Stories: o show narrado enquanto acontecia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78308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A87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49631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1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stories publicados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3474720" y="178308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A87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106 mil</a:t>
            </a:r>
            <a:endParaRPr lang="en-US" sz="3200" dirty="0"/>
          </a:p>
        </p:txBody>
      </p:sp>
      <p:sp>
        <p:nvSpPr>
          <p:cNvPr id="8" name="Text 6"/>
          <p:cNvSpPr txBox="1"/>
          <p:nvPr/>
        </p:nvSpPr>
        <p:spPr>
          <a:xfrm>
            <a:off x="3474720" y="249631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1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visualizações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263640" y="178308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A87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95,6 mil</a:t>
            </a:r>
            <a:endParaRPr lang="en-US" sz="3200" dirty="0"/>
          </a:p>
        </p:txBody>
      </p:sp>
      <p:sp>
        <p:nvSpPr>
          <p:cNvPr id="10" name="Text 8"/>
          <p:cNvSpPr txBox="1"/>
          <p:nvPr/>
        </p:nvSpPr>
        <p:spPr>
          <a:xfrm>
            <a:off x="6263640" y="249631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1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espectadores somados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9052560" y="178308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A87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6.878</a:t>
            </a:r>
            <a:endParaRPr lang="en-US" sz="3200" dirty="0"/>
          </a:p>
        </p:txBody>
      </p:sp>
      <p:sp>
        <p:nvSpPr>
          <p:cNvPr id="12" name="Text 10"/>
          <p:cNvSpPr txBox="1"/>
          <p:nvPr/>
        </p:nvSpPr>
        <p:spPr>
          <a:xfrm>
            <a:off x="9052560" y="249631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1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interações</a:t>
            </a:r>
            <a:endParaRPr lang="en-US" sz="1200" dirty="0"/>
          </a:p>
        </p:txBody>
      </p:sp>
      <p:graphicFrame>
        <p:nvGraphicFramePr>
          <p:cNvPr id="13" name="Chart 0" descr=""/>
          <p:cNvGraphicFramePr/>
          <p:nvPr/>
        </p:nvGraphicFramePr>
        <p:xfrm>
          <a:off x="640080" y="3291840"/>
          <a:ext cx="6949440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4" name="Text 11"/>
          <p:cNvSpPr txBox="1"/>
          <p:nvPr/>
        </p:nvSpPr>
        <p:spPr>
          <a:xfrm>
            <a:off x="7955280" y="342900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1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retenção não caiu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7955280" y="3886200"/>
            <a:ext cx="3520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1411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primeiro ao último story do dia, a audiência variou pouco — sinal de que a sequência prendeu, em vez de cansar. A taxa de resposta chegou a 946 interações em um único card.</a:t>
            </a:r>
            <a:endParaRPr lang="en-US" sz="1150" dirty="0"/>
          </a:p>
        </p:txBody>
      </p:sp>
      <p:sp>
        <p:nvSpPr>
          <p:cNvPr id="16" name="Text 13"/>
          <p:cNvSpPr txBox="1"/>
          <p:nvPr/>
        </p:nvSpPr>
        <p:spPr>
          <a:xfrm>
            <a:off x="685800" y="617220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Rótulos descritivos atribuídos a partir da capa de cada card. Fonte: Instagram Insights de stories.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A87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14300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IMPRENSA E TV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566928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11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digital não trabalhou sozinho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78308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A87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2331720" y="182880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1411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veículos publicaram sobre a apresentação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2331720" y="251460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Censo verificado, URL a URL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217920" y="178308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A87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7863840" y="182880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1411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matérias dedicadas, com repórter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7863840" y="251460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g1, Terra e CNN Brasil entre elas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388620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A87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 mi</a:t>
            </a:r>
            <a:endParaRPr lang="en-US" sz="4000" dirty="0"/>
          </a:p>
        </p:txBody>
      </p:sp>
      <p:sp>
        <p:nvSpPr>
          <p:cNvPr id="12" name="Text 10"/>
          <p:cNvSpPr txBox="1"/>
          <p:nvPr/>
        </p:nvSpPr>
        <p:spPr>
          <a:xfrm>
            <a:off x="2331720" y="393192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1411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seguidores do maior perfil que publicou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2331720" y="461772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@g1 no X, com crítica favorável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6217920" y="388620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A87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000" dirty="0"/>
          </a:p>
        </p:txBody>
      </p:sp>
      <p:sp>
        <p:nvSpPr>
          <p:cNvPr id="15" name="Text 13"/>
          <p:cNvSpPr txBox="1"/>
          <p:nvPr/>
        </p:nvSpPr>
        <p:spPr>
          <a:xfrm>
            <a:off x="7863840" y="393192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1411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sinais de TV e streaming ao vivo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7863840" y="461772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Multishow, Canal Bis e Globoplay aberto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85800" y="5852160"/>
            <a:ext cx="10789920" cy="685800"/>
          </a:xfrm>
          <a:prstGeom prst="roundRect">
            <a:avLst>
              <a:gd name="adj" fmla="val 6667"/>
            </a:avLst>
          </a:prstGeom>
          <a:solidFill>
            <a:srgbClr val="F4F3F0"/>
          </a:solidFill>
          <a:ln w="6350">
            <a:solidFill>
              <a:srgbClr val="DCD8D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60120" y="5989320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1411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“Vanessa da Mata constrói show coeso no Rock in Rio entre clássicos e hits de seus 20 anos de carreira”   —   g1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411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A87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14300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C9C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REPERCUSSÃO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566928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país comentou — e comentou bem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920240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b="1" dirty="0">
                <a:solidFill>
                  <a:srgbClr val="D4A8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#8</a:t>
            </a:r>
            <a:endParaRPr lang="en-US" sz="8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42900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 assuntos mais comentados do Brasil no X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29768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C9C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Conquistado a partir das 15h, no primeiro show do dia.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63440" y="2011680"/>
            <a:ext cx="0" cy="2926080"/>
          </a:xfrm>
          <a:prstGeom prst="line">
            <a:avLst/>
          </a:prstGeom>
          <a:noFill/>
          <a:ln w="12700">
            <a:solidFill>
              <a:srgbClr val="3A352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394960" y="1920240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b="1" dirty="0">
                <a:solidFill>
                  <a:srgbClr val="D4A8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93%</a:t>
            </a:r>
            <a:endParaRPr lang="en-US" sz="8800" dirty="0"/>
          </a:p>
        </p:txBody>
      </p:sp>
      <p:sp>
        <p:nvSpPr>
          <p:cNvPr id="10" name="Text 8"/>
          <p:cNvSpPr txBox="1"/>
          <p:nvPr/>
        </p:nvSpPr>
        <p:spPr>
          <a:xfrm>
            <a:off x="5394960" y="342900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sentimento positivo entre quem se posicionou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5394960" y="429768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C9C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manifestações elogiosas contra 1 crítica — e a crítica foi ao festival, não ao show.</a:t>
            </a:r>
            <a:endParaRPr lang="en-US" sz="1100" dirty="0"/>
          </a:p>
        </p:txBody>
      </p:sp>
      <p:pic>
        <p:nvPicPr>
          <p:cNvPr id="12" name="Image 0" descr="img/duo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144000" y="1737360"/>
            <a:ext cx="2331720" cy="3566160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685800" y="603504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Posição no trending informada pela equipe digital. Sentimento conforme apuração publicada pelo agregador Quenty em 8 de setembro.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A87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14300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O TIME FEZ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566928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11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Cinco decisões, cinco resultados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7373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87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17373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1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Marcar hora com o público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212080" y="1764792"/>
            <a:ext cx="6263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post de convocação teve a maior taxa de curtidas da conta: 16,1%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85800" y="2487168"/>
            <a:ext cx="10789920" cy="0"/>
          </a:xfrm>
          <a:prstGeom prst="line">
            <a:avLst/>
          </a:prstGeom>
          <a:noFill/>
          <a:ln w="6350">
            <a:solidFill>
              <a:srgbClr val="DCD8D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" y="263347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87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1371600" y="263347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1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Transformar a TV em conteúdo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212080" y="2660904"/>
            <a:ext cx="6263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colab com globoplay e Multishow virou o maior reel: 315.753 visualizações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85800" y="3383280"/>
            <a:ext cx="10789920" cy="0"/>
          </a:xfrm>
          <a:prstGeom prst="line">
            <a:avLst/>
          </a:prstGeom>
          <a:noFill/>
          <a:ln w="6350">
            <a:solidFill>
              <a:srgbClr val="DCD8D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85800" y="3529584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87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1371600" y="3529584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1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Somar marcas, não só perfis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212080" y="3557016"/>
            <a:ext cx="6263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3 colaborações responderam por 64% das visualizações do feed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85800" y="4279392"/>
            <a:ext cx="10789920" cy="0"/>
          </a:xfrm>
          <a:prstGeom prst="line">
            <a:avLst/>
          </a:prstGeom>
          <a:noFill/>
          <a:ln w="6350">
            <a:solidFill>
              <a:srgbClr val="DCD8D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85800" y="4425696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87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1371600" y="4425696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1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Buscar público fora da base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212080" y="4453128"/>
            <a:ext cx="6263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Três posts com mais de 42% de visualizadores não seguidores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85800" y="5175504"/>
            <a:ext cx="10789920" cy="0"/>
          </a:xfrm>
          <a:prstGeom prst="line">
            <a:avLst/>
          </a:prstGeom>
          <a:noFill/>
          <a:ln w="6350">
            <a:solidFill>
              <a:srgbClr val="DCD8D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85800" y="532180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87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1371600" y="532180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1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Narrar em tempo real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5212080" y="5349240"/>
            <a:ext cx="6263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stories no ar durante o show, com retenção estável do primeiro ao último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685800" y="617220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os indicadores desta página vêm do Instagram Insights do perfil.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A87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14300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METODOLOGIA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566928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11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onde vem cada número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78308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7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de Instagram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130552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do perfil da Vanessa da Mata, capturados em 9 de setembro de 2026. Cobrem 7 publicações de feed e 11 stories do período.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6217920" y="178308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7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Visualizações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217920" y="2130552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Contam exibições, não pessoas únicas. Somas entre publicações podem incluir a mesma pessoa mais de uma vez.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324612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7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Visualizadores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3593592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Únicos por publicação. A soma entre publicações não é um público único.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6217920" y="324612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7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Imprensa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6217920" y="3593592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Censo de 19 veículos verificados URL a URL, entre 5 e 9 de setembro. Duas republicações automáticas foram deduplicadas.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685800" y="470916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7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Sentimento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85800" y="5056632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Apuração publicada por terceiro sobre 15 manifestações. Amostra pequena: indica direção, não volume.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6217920" y="470916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7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medido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217920" y="5056632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Audiência aferida da transmissão de TV, não divulgada por emissora ou instituto. Nenhum valor foi estimado.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685800" y="612648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411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Nenhum número deste relatório foi estimado. O que não é público está marcado como não disponível.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Vanessa da Mata — Rock in Rio 2026</dc:title>
  <dc:subject>PptxGenJS Presentation</dc:subject>
  <dc:creator>Equipe digital</dc:creator>
  <cp:lastModifiedBy>Equipe digital</cp:lastModifiedBy>
  <cp:revision>1</cp:revision>
  <dcterms:created xsi:type="dcterms:W3CDTF">2026-09-09T17:21:22Z</dcterms:created>
  <dcterms:modified xsi:type="dcterms:W3CDTF">2026-09-09T17:21:22Z</dcterms:modified>
</cp:coreProperties>
</file>